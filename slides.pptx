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</p:sldMasterIdLst>
  <p:notesMasterIdLst>
    <p:notesMasterId r:id="rId18"/>
  </p:notesMasterIdLst>
  <p:sldIdLst>
    <p:sldId id="256" r:id="rId2"/>
    <p:sldId id="265" r:id="rId3"/>
    <p:sldId id="271" r:id="rId4"/>
    <p:sldId id="270" r:id="rId5"/>
    <p:sldId id="266" r:id="rId6"/>
    <p:sldId id="267" r:id="rId7"/>
    <p:sldId id="260" r:id="rId8"/>
    <p:sldId id="268" r:id="rId9"/>
    <p:sldId id="269" r:id="rId10"/>
    <p:sldId id="272" r:id="rId11"/>
    <p:sldId id="273" r:id="rId12"/>
    <p:sldId id="274" r:id="rId13"/>
    <p:sldId id="275" r:id="rId14"/>
    <p:sldId id="277" r:id="rId15"/>
    <p:sldId id="278" r:id="rId16"/>
    <p:sldId id="276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C9D1"/>
    <a:srgbClr val="FF9B51"/>
    <a:srgbClr val="25343F"/>
    <a:srgbClr val="E9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/>
    <p:restoredTop sz="84384"/>
  </p:normalViewPr>
  <p:slideViewPr>
    <p:cSldViewPr snapToGrid="0" showGuides="1">
      <p:cViewPr varScale="1">
        <p:scale>
          <a:sx n="99" d="100"/>
          <a:sy n="99" d="100"/>
        </p:scale>
        <p:origin x="1208" y="18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D8FD08-B7D1-294E-B64B-F4D3120A33A5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29B78-BE84-A74C-9074-4835235CBCB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885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requested</a:t>
            </a:r>
            <a:r>
              <a:rPr lang="it-IT" dirty="0"/>
              <a:t> = </a:t>
            </a:r>
            <a:r>
              <a:rPr lang="it-IT" dirty="0" err="1"/>
              <a:t>GetNumberOfMessageToGet</a:t>
            </a:r>
            <a:endParaRPr lang="it-IT" dirty="0"/>
          </a:p>
          <a:p>
            <a:r>
              <a:rPr lang="it-IT" dirty="0" err="1"/>
              <a:t>fetched</a:t>
            </a:r>
            <a:r>
              <a:rPr lang="it-IT" dirty="0"/>
              <a:t> = min(</a:t>
            </a:r>
            <a:r>
              <a:rPr lang="it-IT" dirty="0" err="1"/>
              <a:t>requested</a:t>
            </a:r>
            <a:r>
              <a:rPr lang="it-IT" dirty="0"/>
              <a:t>, </a:t>
            </a:r>
            <a:r>
              <a:rPr lang="it-IT" dirty="0" err="1"/>
              <a:t>available</a:t>
            </a:r>
            <a:r>
              <a:rPr lang="it-IT" dirty="0"/>
              <a:t>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29B78-BE84-A74C-9074-4835235CBCB5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532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836D-C1FA-AFBF-2A26-54330ABD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EEA3F1D-2060-535D-C0F4-9B3F1A939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E0571E1-93F6-0A98-B387-6E060F9F2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requested</a:t>
            </a:r>
            <a:r>
              <a:rPr lang="it-IT" dirty="0"/>
              <a:t> = </a:t>
            </a:r>
            <a:r>
              <a:rPr lang="it-IT" dirty="0" err="1"/>
              <a:t>GetNumberOfMessageToGet</a:t>
            </a:r>
            <a:endParaRPr lang="it-IT" dirty="0"/>
          </a:p>
          <a:p>
            <a:r>
              <a:rPr lang="it-IT" dirty="0" err="1"/>
              <a:t>fetched</a:t>
            </a:r>
            <a:r>
              <a:rPr lang="it-IT" dirty="0"/>
              <a:t> = min(</a:t>
            </a:r>
            <a:r>
              <a:rPr lang="it-IT" dirty="0" err="1"/>
              <a:t>requested</a:t>
            </a:r>
            <a:r>
              <a:rPr lang="it-IT" dirty="0"/>
              <a:t>, </a:t>
            </a:r>
            <a:r>
              <a:rPr lang="it-IT" dirty="0" err="1"/>
              <a:t>available</a:t>
            </a:r>
            <a:r>
              <a:rPr lang="it-IT" dirty="0"/>
              <a:t>)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5D830C-C631-9925-F83E-594B01104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29B78-BE84-A74C-9074-4835235CBCB5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7955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29B78-BE84-A74C-9074-4835235CBCB5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60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D13DBD-D270-0085-F771-F58281146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AE540D0-5ED7-422A-2BA7-6742EC3C9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BBE6D5-69AB-A782-1B5D-A1D4A33E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9E4A69-7D5D-6F67-A25A-76CD1EF5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764423-1042-189E-193E-3E29DD0E8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1077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224C07-4AC8-7F53-918F-61DE1FF3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DB7D92-ADF1-90FA-7FE4-A44DB64EA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7601BF-4FB2-1336-CE9C-39CEFE129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9E244D-CA19-FDE8-2F3C-B800460E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6A5695-F652-5B44-3C55-A3CDA3EA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133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B97050-19F8-C788-3CCA-5C6121FA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4AEDF6-85A4-5D92-12F4-D3775D72A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31502E-7BC7-CF62-9644-04BB9EBE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53C4E9-27AE-A383-027C-0B109D86E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F9AC65-98FF-12CB-7820-6AAEA229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124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7D5742-0C77-F1D4-BE86-F0E1E38B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C918A1-5E59-AACB-EF64-351403298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97617D9-F0B9-1470-9CB2-B51DDC82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01094CB-CB3A-9CA1-90D3-131A47AD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0BDC0EA-06CB-DF8E-BD48-ED8F7EC1C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C4A5495-3444-B226-7B65-D95968A1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1106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2D6708-05D3-0AAF-845A-DDE9ACE4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9047EE-ED95-38F4-9B6F-6ED3414E9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63EA94C-19FF-6DF8-66DA-91EA963FB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C353053-BCCB-2314-E6AE-163A2F00F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E841C89-51CE-4A96-9514-071F881BA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0BD0527-B676-594D-C725-1AA03D233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35CE70B-747E-B72B-DEAF-4FCCB78C8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73DABDF-0FB2-67F0-52B2-5786A515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8724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0C7EFD-6720-8A33-083E-F45EB437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5395298-B53B-C501-034A-D0596B5CC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83660F0-F50A-A082-173F-6925E3F5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0DD558C-9749-6EDC-9202-25DAC97AC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990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2F0C424-3A34-28C2-1CF8-E50626CC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C0CB5BE-2149-EA5B-B337-C3050012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8F0A90-87E9-318D-54D6-31459AE72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815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97EE10-7ACF-46FA-C043-C0FA4665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7330A3-1211-CFB4-F3D8-C633EDC47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BFA72FE-FC93-3F34-46B6-00FA7B06B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ADBD131-7387-A916-ABA3-DA173114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A77174-6FC5-0EAA-5C37-861F18F8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82447EE-8994-6918-EB00-F1116A2A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168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FC6B6B-9D0D-705E-23E9-5C878F08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11CFAC0-B081-35A6-10A5-77C38E40C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29E8A04-32CB-676F-6206-1A4E4091F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0DFD2-3221-AA8C-92CB-DBB8FB9D3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FCA9AAC-8CA4-74A8-8DD5-D0733639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E1A9714-DD24-FFBC-5E3C-351DD1EA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282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B51F46-BA8A-9939-B39B-168E6AC8E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7C79826-BAAD-2C8E-5DB0-1333B0B52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668D3E-C165-CC82-84BB-3467955A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274BC4-3BE8-D371-080E-33E4968D1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84AC4B-E64F-2B60-34C0-8948ACA2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375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E83F5BF-F90C-7C2B-947A-5E3965CA59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42C84DA-AEDC-26E7-9DBD-19E0D9A7C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DAC8ED-7B1A-4909-42FB-23763C03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851303-395D-8249-703B-DB25CE66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EB6A86-F55D-A759-68D8-CD8B661E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7056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1AFEDE2-DC11-5FE8-E71F-556892E48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9E1DFA-587C-E094-E074-BFF8B920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80A3C8-6B99-EA0D-1398-327A93317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49D0E-F119-2040-A528-099D84D2C1C4}" type="datetimeFigureOut">
              <a:rPr lang="it-IT" smtClean="0"/>
              <a:t>15/10/26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DDE645-F2A1-FE4A-62B2-F4E110E060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8636FF3-0156-0542-595B-E70E48BB7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B4050-A0C2-2E4E-8317-911A14F5524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0654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BD044FA-A69C-B3D7-FB83-FAB41015F8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21" r="22755" b="9092"/>
          <a:stretch>
            <a:fillRect/>
          </a:stretch>
        </p:blipFill>
        <p:spPr>
          <a:xfrm>
            <a:off x="3523485" y="0"/>
            <a:ext cx="8668512" cy="6857990"/>
          </a:xfrm>
          <a:prstGeom prst="rect">
            <a:avLst/>
          </a:prstGeom>
        </p:spPr>
      </p:pic>
      <p:sp>
        <p:nvSpPr>
          <p:cNvPr id="18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2E6F28F-8182-35ED-CE71-79AEDBA30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029" y="1174572"/>
            <a:ext cx="4420590" cy="2273016"/>
          </a:xfrm>
        </p:spPr>
        <p:txBody>
          <a:bodyPr anchor="b">
            <a:normAutofit fontScale="90000"/>
          </a:bodyPr>
          <a:lstStyle/>
          <a:p>
            <a:pPr algn="l"/>
            <a:r>
              <a:rPr lang="it-IT" sz="4800" b="1" dirty="0">
                <a:solidFill>
                  <a:schemeClr val="bg1"/>
                </a:solidFill>
                <a:latin typeface="Avenir Next" panose="020B0503020202020204" pitchFamily="34" charset="0"/>
              </a:rPr>
              <a:t>PRIORITY QUEUES AND FAIR SHARING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D0B87A28-2FF9-1804-0597-BCEA35342FCA}"/>
              </a:ext>
            </a:extLst>
          </p:cNvPr>
          <p:cNvSpPr txBox="1">
            <a:spLocks/>
          </p:cNvSpPr>
          <p:nvPr/>
        </p:nvSpPr>
        <p:spPr>
          <a:xfrm>
            <a:off x="473054" y="3499922"/>
            <a:ext cx="4023360" cy="4973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2400" dirty="0">
                <a:solidFill>
                  <a:schemeClr val="bg1"/>
                </a:solidFill>
                <a:latin typeface="Avenir Next" panose="020B0503020202020204" pitchFamily="34" charset="0"/>
              </a:rPr>
              <a:t>WITH SQS AND LAMBDA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669177D-B3C1-5857-EEA9-8932CFB16F04}"/>
              </a:ext>
            </a:extLst>
          </p:cNvPr>
          <p:cNvSpPr txBox="1">
            <a:spLocks/>
          </p:cNvSpPr>
          <p:nvPr/>
        </p:nvSpPr>
        <p:spPr>
          <a:xfrm>
            <a:off x="481029" y="6049772"/>
            <a:ext cx="4023360" cy="4424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1600" dirty="0">
                <a:solidFill>
                  <a:schemeClr val="bg1"/>
                </a:solidFill>
                <a:latin typeface="Avenir Next" panose="020B0503020202020204" pitchFamily="34" charset="0"/>
              </a:rPr>
              <a:t>AWS User Group Venice – 2026-09-24</a:t>
            </a: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94D0D09E-8821-254D-EABA-7236EB4D71D8}"/>
              </a:ext>
            </a:extLst>
          </p:cNvPr>
          <p:cNvSpPr txBox="1">
            <a:spLocks/>
          </p:cNvSpPr>
          <p:nvPr/>
        </p:nvSpPr>
        <p:spPr>
          <a:xfrm>
            <a:off x="481029" y="5683428"/>
            <a:ext cx="4023360" cy="4424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t-IT" sz="1600" dirty="0">
                <a:solidFill>
                  <a:schemeClr val="bg1"/>
                </a:solidFill>
                <a:latin typeface="Avenir Next" panose="020B0503020202020204" pitchFamily="34" charset="0"/>
              </a:rPr>
              <a:t>Salvatore Caputi</a:t>
            </a:r>
          </a:p>
        </p:txBody>
      </p:sp>
    </p:spTree>
    <p:extLst>
      <p:ext uri="{BB962C8B-B14F-4D97-AF65-F5344CB8AC3E}">
        <p14:creationId xmlns:p14="http://schemas.microsoft.com/office/powerpoint/2010/main" val="420051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5F6BB-6714-C945-F143-063046FB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C68325-980D-0AA3-DE1B-16B2C59B3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WHO AM I?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65C69447-13AC-079A-9C97-770AF429A4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69" t="5232" r="25951" b="4236"/>
          <a:stretch>
            <a:fillRect/>
          </a:stretch>
        </p:blipFill>
        <p:spPr>
          <a:xfrm>
            <a:off x="14919960" y="1615367"/>
            <a:ext cx="805367" cy="805367"/>
          </a:xfrm>
          <a:prstGeom prst="ellipse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D5712A00-FFF5-C24A-0CC3-8EC155A9D7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80" t="6318" r="25552" b="4641"/>
          <a:stretch>
            <a:fillRect/>
          </a:stretch>
        </p:blipFill>
        <p:spPr>
          <a:xfrm>
            <a:off x="17057187" y="2888036"/>
            <a:ext cx="805367" cy="805367"/>
          </a:xfrm>
          <a:prstGeom prst="ellipse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3AE6B808-C4EA-4DD4-8DE0-C7A7172D23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388" t="7753" r="25535" b="4104"/>
          <a:stretch>
            <a:fillRect/>
          </a:stretch>
        </p:blipFill>
        <p:spPr>
          <a:xfrm>
            <a:off x="18806160" y="4213599"/>
            <a:ext cx="805367" cy="805367"/>
          </a:xfrm>
          <a:prstGeom prst="ellipse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FAC48883-A46A-3818-A6C2-707AC643EA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895" t="6029" r="24923" b="3806"/>
          <a:stretch>
            <a:fillRect/>
          </a:stretch>
        </p:blipFill>
        <p:spPr>
          <a:xfrm>
            <a:off x="20735128" y="5512715"/>
            <a:ext cx="805368" cy="805368"/>
          </a:xfrm>
          <a:prstGeom prst="ellipse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3CAEFB8-8809-F71B-8C7E-2C0A821C21A0}"/>
              </a:ext>
            </a:extLst>
          </p:cNvPr>
          <p:cNvSpPr txBox="1"/>
          <p:nvPr/>
        </p:nvSpPr>
        <p:spPr>
          <a:xfrm>
            <a:off x="15903303" y="1540996"/>
            <a:ext cx="4274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Solutions Architect</a:t>
            </a:r>
          </a:p>
          <a:p>
            <a:r>
              <a:rPr lang="it-IT" sz="2800" dirty="0">
                <a:latin typeface="Avenir Next" panose="020B0503020202020204" pitchFamily="34" charset="0"/>
              </a:rPr>
              <a:t>@</a:t>
            </a:r>
            <a:r>
              <a:rPr lang="it-IT" sz="2800" dirty="0" err="1">
                <a:latin typeface="Avenir Next" panose="020B0503020202020204" pitchFamily="34" charset="0"/>
              </a:rPr>
              <a:t>Pixartprinting</a:t>
            </a:r>
            <a:endParaRPr lang="it-IT" sz="2800" dirty="0">
              <a:latin typeface="Avenir Next" panose="020B0503020202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B899C9A8-760F-2084-8FCC-AB611B3E2257}"/>
              </a:ext>
            </a:extLst>
          </p:cNvPr>
          <p:cNvSpPr txBox="1"/>
          <p:nvPr/>
        </p:nvSpPr>
        <p:spPr>
          <a:xfrm>
            <a:off x="18040529" y="2840112"/>
            <a:ext cx="4274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Kenjutsu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practitioner</a:t>
            </a:r>
            <a:endParaRPr lang="it-IT" sz="2800" dirty="0">
              <a:latin typeface="Avenir Next" panose="020B0503020202020204" pitchFamily="34" charset="0"/>
            </a:endParaRPr>
          </a:p>
          <a:p>
            <a:r>
              <a:rPr lang="it-IT" sz="2800" dirty="0">
                <a:latin typeface="Avenir Next" panose="020B0503020202020204" pitchFamily="34" charset="0"/>
              </a:rPr>
              <a:t>@Bushido Dojo Venezia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054F822-9B53-25FB-9370-EB4D034411E4}"/>
              </a:ext>
            </a:extLst>
          </p:cNvPr>
          <p:cNvSpPr txBox="1"/>
          <p:nvPr/>
        </p:nvSpPr>
        <p:spPr>
          <a:xfrm>
            <a:off x="19789502" y="4139228"/>
            <a:ext cx="4274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Bojutsu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practitioner</a:t>
            </a:r>
            <a:endParaRPr lang="it-IT" sz="2800" dirty="0">
              <a:latin typeface="Avenir Next" panose="020B0503020202020204" pitchFamily="34" charset="0"/>
            </a:endParaRPr>
          </a:p>
          <a:p>
            <a:r>
              <a:rPr lang="it-IT" sz="2800" dirty="0">
                <a:latin typeface="Avenir Next" panose="020B0503020202020204" pitchFamily="34" charset="0"/>
              </a:rPr>
              <a:t>@Bushido Dojo Venezia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5CC793C-F971-38C1-DD31-7861005BDBFD}"/>
              </a:ext>
            </a:extLst>
          </p:cNvPr>
          <p:cNvSpPr txBox="1"/>
          <p:nvPr/>
        </p:nvSpPr>
        <p:spPr>
          <a:xfrm>
            <a:off x="21709741" y="5438345"/>
            <a:ext cx="4274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Iaido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practitioner</a:t>
            </a:r>
            <a:endParaRPr lang="it-IT" sz="2800" dirty="0">
              <a:latin typeface="Avenir Next" panose="020B0503020202020204" pitchFamily="34" charset="0"/>
            </a:endParaRPr>
          </a:p>
          <a:p>
            <a:r>
              <a:rPr lang="it-IT" sz="2800" dirty="0">
                <a:latin typeface="Avenir Next" panose="020B0503020202020204" pitchFamily="34" charset="0"/>
              </a:rPr>
              <a:t>@Bushido Dojo Venezia</a:t>
            </a:r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47302C3B-C2B1-53FF-5264-6ADE9B7E09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 radius="4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1690688"/>
            <a:ext cx="4702716" cy="470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6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"/>
    </mc:Choice>
    <mc:Fallback xmlns="">
      <p:transition spd="slow" advClick="0" advTm="1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58B48-98F5-FE22-6527-ECD58324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7EF745-5241-5282-295D-317AC9D6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WHO AM I?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005A4793-EDB3-EF33-95BC-8D8F9E5169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69" t="5232" r="25951" b="4236"/>
          <a:stretch>
            <a:fillRect/>
          </a:stretch>
        </p:blipFill>
        <p:spPr>
          <a:xfrm>
            <a:off x="6096000" y="1690688"/>
            <a:ext cx="805367" cy="805367"/>
          </a:xfrm>
          <a:prstGeom prst="ellipse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4F180DBD-FC54-6A35-B806-EA1CE20559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80" t="6318" r="25552" b="4641"/>
          <a:stretch>
            <a:fillRect/>
          </a:stretch>
        </p:blipFill>
        <p:spPr>
          <a:xfrm>
            <a:off x="6096000" y="2989804"/>
            <a:ext cx="805367" cy="805367"/>
          </a:xfrm>
          <a:prstGeom prst="ellipse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F0A73190-316B-C898-EDBD-AC8A91146A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388" t="7753" r="25535" b="4104"/>
          <a:stretch>
            <a:fillRect/>
          </a:stretch>
        </p:blipFill>
        <p:spPr>
          <a:xfrm>
            <a:off x="6096000" y="4288920"/>
            <a:ext cx="805367" cy="805367"/>
          </a:xfrm>
          <a:prstGeom prst="ellipse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2EEC9A9F-DDB3-29F1-DEFE-123CFC2EDA0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895" t="6029" r="24923" b="3806"/>
          <a:stretch>
            <a:fillRect/>
          </a:stretch>
        </p:blipFill>
        <p:spPr>
          <a:xfrm>
            <a:off x="6104728" y="5588036"/>
            <a:ext cx="805368" cy="805368"/>
          </a:xfrm>
          <a:prstGeom prst="ellipse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DE201F1-F087-2968-2214-0E1FA2AC1B9D}"/>
              </a:ext>
            </a:extLst>
          </p:cNvPr>
          <p:cNvSpPr txBox="1"/>
          <p:nvPr/>
        </p:nvSpPr>
        <p:spPr>
          <a:xfrm>
            <a:off x="7079343" y="1616317"/>
            <a:ext cx="4274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Solutions Architect</a:t>
            </a:r>
          </a:p>
          <a:p>
            <a:r>
              <a:rPr lang="it-IT" sz="2800" dirty="0">
                <a:latin typeface="Avenir Next" panose="020B0503020202020204" pitchFamily="34" charset="0"/>
              </a:rPr>
              <a:t>@</a:t>
            </a:r>
            <a:r>
              <a:rPr lang="it-IT" sz="2800" dirty="0" err="1">
                <a:latin typeface="Avenir Next" panose="020B0503020202020204" pitchFamily="34" charset="0"/>
              </a:rPr>
              <a:t>Pixartprinting</a:t>
            </a:r>
            <a:endParaRPr lang="it-IT" sz="2800" dirty="0">
              <a:latin typeface="Avenir Next" panose="020B0503020202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8BEEF60-6FBF-0D6B-FCA8-5D9C72C80A59}"/>
              </a:ext>
            </a:extLst>
          </p:cNvPr>
          <p:cNvSpPr txBox="1"/>
          <p:nvPr/>
        </p:nvSpPr>
        <p:spPr>
          <a:xfrm>
            <a:off x="7079342" y="2941880"/>
            <a:ext cx="4274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Kenjutsu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practitioner</a:t>
            </a:r>
            <a:endParaRPr lang="it-IT" sz="2800" dirty="0">
              <a:latin typeface="Avenir Next" panose="020B0503020202020204" pitchFamily="34" charset="0"/>
            </a:endParaRPr>
          </a:p>
          <a:p>
            <a:r>
              <a:rPr lang="it-IT" sz="2800" dirty="0">
                <a:latin typeface="Avenir Next" panose="020B0503020202020204" pitchFamily="34" charset="0"/>
              </a:rPr>
              <a:t>@Bushido Dojo Venezia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974FAC9-03A0-7827-A5FA-84F200BC01CE}"/>
              </a:ext>
            </a:extLst>
          </p:cNvPr>
          <p:cNvSpPr txBox="1"/>
          <p:nvPr/>
        </p:nvSpPr>
        <p:spPr>
          <a:xfrm>
            <a:off x="7079342" y="4214549"/>
            <a:ext cx="4274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Bojutsu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practitioner</a:t>
            </a:r>
            <a:endParaRPr lang="it-IT" sz="2800" dirty="0">
              <a:latin typeface="Avenir Next" panose="020B0503020202020204" pitchFamily="34" charset="0"/>
            </a:endParaRPr>
          </a:p>
          <a:p>
            <a:r>
              <a:rPr lang="it-IT" sz="2800" dirty="0">
                <a:latin typeface="Avenir Next" panose="020B0503020202020204" pitchFamily="34" charset="0"/>
              </a:rPr>
              <a:t>@Bushido Dojo Venezia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CED2DD5-8344-BE5A-3E82-D27B94188365}"/>
              </a:ext>
            </a:extLst>
          </p:cNvPr>
          <p:cNvSpPr txBox="1"/>
          <p:nvPr/>
        </p:nvSpPr>
        <p:spPr>
          <a:xfrm>
            <a:off x="7079341" y="5513666"/>
            <a:ext cx="42744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Iaido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practitioner</a:t>
            </a:r>
            <a:endParaRPr lang="it-IT" sz="2800" dirty="0">
              <a:latin typeface="Avenir Next" panose="020B0503020202020204" pitchFamily="34" charset="0"/>
            </a:endParaRPr>
          </a:p>
          <a:p>
            <a:r>
              <a:rPr lang="it-IT" sz="2800" dirty="0">
                <a:latin typeface="Avenir Next" panose="020B0503020202020204" pitchFamily="34" charset="0"/>
              </a:rPr>
              <a:t>@Bushido Dojo Venezia</a:t>
            </a:r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E6F1617B-9C82-91AA-8E4C-C024581F0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690688"/>
            <a:ext cx="4702716" cy="470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83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D577-BC61-6C95-2745-6B260A2E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08C232-A895-7FE5-64BE-30C02D0A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THE CONTEXT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B9C45D9-2070-3E45-11A8-F0A1ACBBD90F}"/>
              </a:ext>
            </a:extLst>
          </p:cNvPr>
          <p:cNvSpPr txBox="1"/>
          <p:nvPr/>
        </p:nvSpPr>
        <p:spPr>
          <a:xfrm>
            <a:off x="2351315" y="2036624"/>
            <a:ext cx="8548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Service </a:t>
            </a:r>
            <a:r>
              <a:rPr lang="it-IT" sz="2800" dirty="0" err="1">
                <a:latin typeface="Avenir Next" panose="020B0503020202020204" pitchFamily="34" charset="0"/>
              </a:rPr>
              <a:t>that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manipulates</a:t>
            </a:r>
            <a:r>
              <a:rPr lang="it-IT" sz="2800" dirty="0">
                <a:latin typeface="Avenir Next" panose="020B0503020202020204" pitchFamily="34" charset="0"/>
              </a:rPr>
              <a:t> pdf files running on </a:t>
            </a:r>
            <a:r>
              <a:rPr lang="it-IT" sz="2800" b="1" dirty="0">
                <a:latin typeface="Avenir Next" panose="020B0503020202020204" pitchFamily="34" charset="0"/>
              </a:rPr>
              <a:t>Batch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0B6728-449B-CB21-940C-41B4C4853FE2}"/>
              </a:ext>
            </a:extLst>
          </p:cNvPr>
          <p:cNvSpPr txBox="1"/>
          <p:nvPr/>
        </p:nvSpPr>
        <p:spPr>
          <a:xfrm>
            <a:off x="2351315" y="2996185"/>
            <a:ext cx="8548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venir Next" panose="020B0503020202020204" pitchFamily="34" charset="0"/>
              </a:rPr>
              <a:t>~15k </a:t>
            </a:r>
            <a:r>
              <a:rPr lang="it-IT" sz="2800" dirty="0" err="1">
                <a:latin typeface="Avenir Next" panose="020B0503020202020204" pitchFamily="34" charset="0"/>
              </a:rPr>
              <a:t>execution</a:t>
            </a:r>
            <a:r>
              <a:rPr lang="it-IT" sz="2800" dirty="0">
                <a:latin typeface="Avenir Next" panose="020B0503020202020204" pitchFamily="34" charset="0"/>
              </a:rPr>
              <a:t> per day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D9183EA-6BF6-3B3E-BB46-AF2EE206FADD}"/>
              </a:ext>
            </a:extLst>
          </p:cNvPr>
          <p:cNvSpPr txBox="1"/>
          <p:nvPr/>
        </p:nvSpPr>
        <p:spPr>
          <a:xfrm>
            <a:off x="2351315" y="3955746"/>
            <a:ext cx="900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Execution</a:t>
            </a:r>
            <a:r>
              <a:rPr lang="it-IT" sz="2800" dirty="0">
                <a:latin typeface="Avenir Next" panose="020B0503020202020204" pitchFamily="34" charset="0"/>
              </a:rPr>
              <a:t> duration from </a:t>
            </a:r>
            <a:r>
              <a:rPr lang="it-IT" sz="2800" b="1" dirty="0" err="1">
                <a:latin typeface="Avenir Next" panose="020B0503020202020204" pitchFamily="34" charset="0"/>
              </a:rPr>
              <a:t>few</a:t>
            </a:r>
            <a:r>
              <a:rPr lang="it-IT" sz="2800" b="1" dirty="0">
                <a:latin typeface="Avenir Next" panose="020B0503020202020204" pitchFamily="34" charset="0"/>
              </a:rPr>
              <a:t> seconds to 50 minutes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C3BFE32-7BD5-396B-025A-40BFAB1682AC}"/>
              </a:ext>
            </a:extLst>
          </p:cNvPr>
          <p:cNvSpPr txBox="1"/>
          <p:nvPr/>
        </p:nvSpPr>
        <p:spPr>
          <a:xfrm>
            <a:off x="2351315" y="4915306"/>
            <a:ext cx="8548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Avenir Next" panose="020B0503020202020204" pitchFamily="34" charset="0"/>
              </a:rPr>
              <a:t>Cap</a:t>
            </a:r>
            <a:r>
              <a:rPr lang="it-IT" sz="2800" dirty="0">
                <a:latin typeface="Avenir Next" panose="020B0503020202020204" pitchFamily="34" charset="0"/>
              </a:rPr>
              <a:t> to </a:t>
            </a:r>
            <a:r>
              <a:rPr lang="it-IT" sz="2800" dirty="0" err="1">
                <a:latin typeface="Avenir Next" panose="020B0503020202020204" pitchFamily="34" charset="0"/>
              </a:rPr>
              <a:t>concurrent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executions</a:t>
            </a:r>
            <a:endParaRPr lang="it-IT" sz="2800" dirty="0">
              <a:latin typeface="Avenir Next" panose="020B0503020202020204" pitchFamily="34" charset="0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E100E5D0-7D89-8ADA-1E6F-7951C96E799E}"/>
              </a:ext>
            </a:extLst>
          </p:cNvPr>
          <p:cNvSpPr/>
          <p:nvPr/>
        </p:nvSpPr>
        <p:spPr>
          <a:xfrm>
            <a:off x="838202" y="2267464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B9FC287F-99E7-23AB-954A-A5A51BF0ECA7}"/>
              </a:ext>
            </a:extLst>
          </p:cNvPr>
          <p:cNvSpPr/>
          <p:nvPr/>
        </p:nvSpPr>
        <p:spPr>
          <a:xfrm>
            <a:off x="838201" y="3195145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93C92BA4-DB52-5D83-F6E2-4F8A926B4C1B}"/>
              </a:ext>
            </a:extLst>
          </p:cNvPr>
          <p:cNvSpPr/>
          <p:nvPr/>
        </p:nvSpPr>
        <p:spPr>
          <a:xfrm>
            <a:off x="838201" y="4154706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DA4752D-BF33-9651-998C-B66AC808D497}"/>
              </a:ext>
            </a:extLst>
          </p:cNvPr>
          <p:cNvSpPr/>
          <p:nvPr/>
        </p:nvSpPr>
        <p:spPr>
          <a:xfrm>
            <a:off x="838200" y="5117150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454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DDC23-FE86-6D36-8093-6EC205C0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F18FE4-D0D5-EE31-54F8-86A7F29AE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THE NEED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42E4DD5-DF6B-2C52-273A-7AF6C558E867}"/>
              </a:ext>
            </a:extLst>
          </p:cNvPr>
          <p:cNvSpPr txBox="1"/>
          <p:nvPr/>
        </p:nvSpPr>
        <p:spPr>
          <a:xfrm>
            <a:off x="2351315" y="2036624"/>
            <a:ext cx="85489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Give </a:t>
            </a:r>
            <a:r>
              <a:rPr lang="it-IT" sz="2800" dirty="0" err="1">
                <a:latin typeface="Avenir Next" panose="020B0503020202020204" pitchFamily="34" charset="0"/>
              </a:rPr>
              <a:t>precedence</a:t>
            </a:r>
            <a:r>
              <a:rPr lang="it-IT" sz="2800" dirty="0">
                <a:latin typeface="Avenir Next" panose="020B0503020202020204" pitchFamily="34" charset="0"/>
              </a:rPr>
              <a:t> to </a:t>
            </a:r>
            <a:r>
              <a:rPr lang="it-IT" sz="2800" b="1" dirty="0">
                <a:latin typeface="Avenir Next" panose="020B0503020202020204" pitchFamily="34" charset="0"/>
              </a:rPr>
              <a:t>high </a:t>
            </a:r>
            <a:r>
              <a:rPr lang="it-IT" sz="2800" b="1" dirty="0" err="1">
                <a:latin typeface="Avenir Next" panose="020B0503020202020204" pitchFamily="34" charset="0"/>
              </a:rPr>
              <a:t>priority</a:t>
            </a:r>
            <a:r>
              <a:rPr lang="it-IT" sz="2800" b="1" dirty="0">
                <a:latin typeface="Avenir Next" panose="020B0503020202020204" pitchFamily="34" charset="0"/>
              </a:rPr>
              <a:t> </a:t>
            </a:r>
            <a:r>
              <a:rPr lang="it-IT" sz="2800" dirty="0">
                <a:latin typeface="Avenir Next" panose="020B0503020202020204" pitchFamily="34" charset="0"/>
              </a:rPr>
              <a:t>jobs (e.g. </a:t>
            </a:r>
            <a:r>
              <a:rPr lang="it-IT" sz="2800" dirty="0" err="1">
                <a:latin typeface="Avenir Next" panose="020B0503020202020204" pitchFamily="34" charset="0"/>
              </a:rPr>
              <a:t>order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that</a:t>
            </a:r>
            <a:r>
              <a:rPr lang="it-IT" sz="2800" dirty="0">
                <a:latin typeface="Avenir Next" panose="020B0503020202020204" pitchFamily="34" charset="0"/>
              </a:rPr>
              <a:t> must be delivery </a:t>
            </a:r>
            <a:r>
              <a:rPr lang="it-IT" sz="2800" dirty="0" err="1">
                <a:latin typeface="Avenir Next" panose="020B0503020202020204" pitchFamily="34" charset="0"/>
              </a:rPr>
              <a:t>today</a:t>
            </a:r>
            <a:r>
              <a:rPr lang="it-IT" sz="2800" dirty="0">
                <a:latin typeface="Avenir Next" panose="020B0503020202020204" pitchFamily="34" charset="0"/>
              </a:rPr>
              <a:t>).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6E18AF0-2969-DEF2-DD68-5FD0FD93B69C}"/>
              </a:ext>
            </a:extLst>
          </p:cNvPr>
          <p:cNvSpPr txBox="1"/>
          <p:nvPr/>
        </p:nvSpPr>
        <p:spPr>
          <a:xfrm>
            <a:off x="2351315" y="3955746"/>
            <a:ext cx="85489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Resources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b="1" dirty="0" err="1">
                <a:latin typeface="Avenir Next" panose="020B0503020202020204" pitchFamily="34" charset="0"/>
              </a:rPr>
              <a:t>equally</a:t>
            </a:r>
            <a:r>
              <a:rPr lang="it-IT" sz="2800" b="1" dirty="0">
                <a:latin typeface="Avenir Next" panose="020B0503020202020204" pitchFamily="34" charset="0"/>
              </a:rPr>
              <a:t> </a:t>
            </a:r>
            <a:r>
              <a:rPr lang="it-IT" sz="2800" b="1" dirty="0" err="1">
                <a:latin typeface="Avenir Next" panose="020B0503020202020204" pitchFamily="34" charset="0"/>
              </a:rPr>
              <a:t>shared</a:t>
            </a:r>
            <a:r>
              <a:rPr lang="it-IT" sz="2800" b="1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among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several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value</a:t>
            </a:r>
            <a:r>
              <a:rPr lang="it-IT" sz="2800" dirty="0">
                <a:latin typeface="Avenir Next" panose="020B0503020202020204" pitchFamily="34" charset="0"/>
              </a:rPr>
              <a:t> streams.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59F1E63-756B-F4BB-433A-0CE448FAECE3}"/>
              </a:ext>
            </a:extLst>
          </p:cNvPr>
          <p:cNvSpPr/>
          <p:nvPr/>
        </p:nvSpPr>
        <p:spPr>
          <a:xfrm>
            <a:off x="838202" y="2267464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9954D4B-C3C5-C374-0CAD-85FD003AD808}"/>
              </a:ext>
            </a:extLst>
          </p:cNvPr>
          <p:cNvSpPr/>
          <p:nvPr/>
        </p:nvSpPr>
        <p:spPr>
          <a:xfrm>
            <a:off x="838201" y="4154706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188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A5F9-EAFC-98AE-4D0E-006C7BEAD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A376DC-B181-A16C-BF08-D9BAAF55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WHY NOT BATCH?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C96098C-0F11-41B5-BD41-DD6AA0B451F1}"/>
              </a:ext>
            </a:extLst>
          </p:cNvPr>
          <p:cNvSpPr txBox="1"/>
          <p:nvPr/>
        </p:nvSpPr>
        <p:spPr>
          <a:xfrm>
            <a:off x="2351315" y="2036624"/>
            <a:ext cx="85489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In 2022 </a:t>
            </a:r>
            <a:r>
              <a:rPr lang="it-IT" sz="2800" dirty="0" err="1">
                <a:latin typeface="Avenir Next" panose="020B0503020202020204" pitchFamily="34" charset="0"/>
              </a:rPr>
              <a:t>we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tested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b="1" dirty="0" err="1">
                <a:latin typeface="Avenir Next" panose="020B0503020202020204" pitchFamily="34" charset="0"/>
              </a:rPr>
              <a:t>priority</a:t>
            </a:r>
            <a:r>
              <a:rPr lang="it-IT" sz="2800" b="1" dirty="0">
                <a:latin typeface="Avenir Next" panose="020B0503020202020204" pitchFamily="34" charset="0"/>
              </a:rPr>
              <a:t> jobs </a:t>
            </a:r>
            <a:r>
              <a:rPr lang="it-IT" sz="2800" dirty="0">
                <a:latin typeface="Avenir Next" panose="020B0503020202020204" pitchFamily="34" charset="0"/>
              </a:rPr>
              <a:t>and </a:t>
            </a:r>
            <a:r>
              <a:rPr lang="it-IT" sz="2800" b="1" dirty="0">
                <a:latin typeface="Avenir Next" panose="020B0503020202020204" pitchFamily="34" charset="0"/>
              </a:rPr>
              <a:t>fair sharing </a:t>
            </a:r>
            <a:r>
              <a:rPr lang="it-IT" sz="2800" dirty="0">
                <a:latin typeface="Avenir Next" panose="020B0503020202020204" pitchFamily="34" charset="0"/>
              </a:rPr>
              <a:t>features.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2E20378-9648-4383-A3F4-EF1B2B12FEAC}"/>
              </a:ext>
            </a:extLst>
          </p:cNvPr>
          <p:cNvSpPr txBox="1"/>
          <p:nvPr/>
        </p:nvSpPr>
        <p:spPr>
          <a:xfrm>
            <a:off x="2351315" y="3955746"/>
            <a:ext cx="8548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It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didn’t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b="1" dirty="0">
                <a:latin typeface="Avenir Next" panose="020B0503020202020204" pitchFamily="34" charset="0"/>
              </a:rPr>
              <a:t>work</a:t>
            </a:r>
            <a:r>
              <a:rPr lang="it-IT" sz="2800" dirty="0">
                <a:latin typeface="Avenir Next" panose="020B0503020202020204" pitchFamily="34" charset="0"/>
              </a:rPr>
              <a:t>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83068184-2946-78F9-1B02-E06F025563E7}"/>
              </a:ext>
            </a:extLst>
          </p:cNvPr>
          <p:cNvSpPr/>
          <p:nvPr/>
        </p:nvSpPr>
        <p:spPr>
          <a:xfrm>
            <a:off x="838202" y="2267464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8425EC-D854-D17A-E127-6905D931D4C2}"/>
              </a:ext>
            </a:extLst>
          </p:cNvPr>
          <p:cNvSpPr/>
          <p:nvPr/>
        </p:nvSpPr>
        <p:spPr>
          <a:xfrm>
            <a:off x="838201" y="4154706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4026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06B41-6518-0EB1-B785-AA32B7A64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CA1C7C95-E869-E0F9-5B14-4B9081D7C50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-197219"/>
            <a:ext cx="12158898" cy="7154488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D2FADC2-7F27-902C-382E-F956ADB7F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0345" y="-1116148"/>
            <a:ext cx="9144000" cy="2387600"/>
          </a:xfrm>
        </p:spPr>
        <p:txBody>
          <a:bodyPr>
            <a:normAutofit/>
          </a:bodyPr>
          <a:lstStyle/>
          <a:p>
            <a:r>
              <a:rPr lang="it-IT" sz="4400" b="1" dirty="0">
                <a:latin typeface="Avenir Next" panose="020B0503020202020204" pitchFamily="34" charset="0"/>
              </a:rPr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765406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6D9F7-E2F7-ADC5-38B6-85A4338DE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412E7A-A09B-9302-B45F-432F23CC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SORTER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BE85888-B4B6-D21E-FE53-218BD817E567}"/>
              </a:ext>
            </a:extLst>
          </p:cNvPr>
          <p:cNvSpPr txBox="1"/>
          <p:nvPr/>
        </p:nvSpPr>
        <p:spPr>
          <a:xfrm>
            <a:off x="2351315" y="2036624"/>
            <a:ext cx="8548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Extract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b="1" dirty="0">
                <a:latin typeface="Avenir Next" panose="020B0503020202020204" pitchFamily="34" charset="0"/>
              </a:rPr>
              <a:t>tag</a:t>
            </a:r>
            <a:r>
              <a:rPr lang="it-IT" sz="2800" dirty="0">
                <a:latin typeface="Avenir Next" panose="020B0503020202020204" pitchFamily="34" charset="0"/>
              </a:rPr>
              <a:t> and </a:t>
            </a:r>
            <a:r>
              <a:rPr lang="it-IT" sz="2800" b="1" dirty="0" err="1">
                <a:latin typeface="Avenir Next" panose="020B0503020202020204" pitchFamily="34" charset="0"/>
              </a:rPr>
              <a:t>priority</a:t>
            </a:r>
            <a:r>
              <a:rPr lang="it-IT" sz="2800" dirty="0">
                <a:latin typeface="Avenir Next" panose="020B0503020202020204" pitchFamily="34" charset="0"/>
              </a:rPr>
              <a:t> from </a:t>
            </a:r>
            <a:r>
              <a:rPr lang="it-IT" sz="2800" dirty="0" err="1">
                <a:latin typeface="Avenir Next" panose="020B0503020202020204" pitchFamily="34" charset="0"/>
              </a:rPr>
              <a:t>message</a:t>
            </a:r>
            <a:endParaRPr lang="it-IT" sz="2800" b="1" dirty="0">
              <a:latin typeface="Avenir Next" panose="020B0503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44683C6-FF81-A4CC-E8C2-4AD403805410}"/>
              </a:ext>
            </a:extLst>
          </p:cNvPr>
          <p:cNvSpPr txBox="1"/>
          <p:nvPr/>
        </p:nvSpPr>
        <p:spPr>
          <a:xfrm>
            <a:off x="2351315" y="2996185"/>
            <a:ext cx="8548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Sort the </a:t>
            </a:r>
            <a:r>
              <a:rPr lang="it-IT" sz="2800" dirty="0" err="1">
                <a:latin typeface="Avenir Next" panose="020B0503020202020204" pitchFamily="34" charset="0"/>
              </a:rPr>
              <a:t>message</a:t>
            </a:r>
            <a:r>
              <a:rPr lang="it-IT" sz="2800" dirty="0">
                <a:latin typeface="Avenir Next" panose="020B0503020202020204" pitchFamily="34" charset="0"/>
              </a:rPr>
              <a:t> to </a:t>
            </a:r>
            <a:r>
              <a:rPr lang="it-IT" sz="2800" dirty="0" err="1">
                <a:latin typeface="Avenir Next" panose="020B0503020202020204" pitchFamily="34" charset="0"/>
              </a:rPr>
              <a:t>proper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b="1" dirty="0" err="1">
                <a:latin typeface="Avenir Next" panose="020B0503020202020204" pitchFamily="34" charset="0"/>
              </a:rPr>
              <a:t>queue</a:t>
            </a:r>
            <a:endParaRPr lang="it-IT" sz="2800" b="1" dirty="0">
              <a:latin typeface="Avenir Next" panose="020B0503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71C7BC2-4A0E-E765-D0E1-52CA0F348B0D}"/>
              </a:ext>
            </a:extLst>
          </p:cNvPr>
          <p:cNvSpPr txBox="1"/>
          <p:nvPr/>
        </p:nvSpPr>
        <p:spPr>
          <a:xfrm>
            <a:off x="2351315" y="3955746"/>
            <a:ext cx="900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If</a:t>
            </a:r>
            <a:r>
              <a:rPr lang="it-IT" sz="2800" dirty="0">
                <a:latin typeface="Avenir Next" panose="020B0503020202020204" pitchFamily="34" charset="0"/>
              </a:rPr>
              <a:t> tag </a:t>
            </a:r>
            <a:r>
              <a:rPr lang="it-IT" sz="2800" dirty="0" err="1">
                <a:latin typeface="Avenir Next" panose="020B0503020202020204" pitchFamily="34" charset="0"/>
              </a:rPr>
              <a:t>doesn’t</a:t>
            </a:r>
            <a:r>
              <a:rPr lang="it-IT" sz="2800" dirty="0">
                <a:latin typeface="Avenir Next" panose="020B0503020202020204" pitchFamily="34" charset="0"/>
              </a:rPr>
              <a:t> match </a:t>
            </a:r>
            <a:r>
              <a:rPr lang="it-IT" sz="2800" dirty="0" err="1">
                <a:latin typeface="Avenir Next" panose="020B0503020202020204" pitchFamily="34" charset="0"/>
              </a:rPr>
              <a:t>any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queue</a:t>
            </a:r>
            <a:r>
              <a:rPr lang="it-IT" sz="2800" dirty="0">
                <a:latin typeface="Avenir Next" panose="020B0503020202020204" pitchFamily="34" charset="0"/>
              </a:rPr>
              <a:t>, use a </a:t>
            </a:r>
            <a:r>
              <a:rPr lang="it-IT" sz="2800" b="1" dirty="0">
                <a:latin typeface="Avenir Next" panose="020B0503020202020204" pitchFamily="34" charset="0"/>
              </a:rPr>
              <a:t>default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queue</a:t>
            </a:r>
            <a:endParaRPr lang="it-IT" sz="2800" b="1" dirty="0">
              <a:latin typeface="Avenir Next" panose="020B0503020202020204" pitchFamily="34" charset="0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4DDAEE9-1D90-B8AC-8BC4-6C9A61215EC3}"/>
              </a:ext>
            </a:extLst>
          </p:cNvPr>
          <p:cNvSpPr/>
          <p:nvPr/>
        </p:nvSpPr>
        <p:spPr>
          <a:xfrm>
            <a:off x="838202" y="2267464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E8E6015-5B71-D463-B51C-411180EB13EB}"/>
              </a:ext>
            </a:extLst>
          </p:cNvPr>
          <p:cNvSpPr/>
          <p:nvPr/>
        </p:nvSpPr>
        <p:spPr>
          <a:xfrm>
            <a:off x="838201" y="3195145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A7368A7-E047-08A8-3818-10C529FDFADF}"/>
              </a:ext>
            </a:extLst>
          </p:cNvPr>
          <p:cNvSpPr/>
          <p:nvPr/>
        </p:nvSpPr>
        <p:spPr>
          <a:xfrm>
            <a:off x="838201" y="4154706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7896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FAEC9-F3F7-4897-C61B-5EF8B088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522A04-FEBA-C55C-9054-7336A641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CHECKER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1FA2A0C-2360-D3A4-C7E6-C127FA19FF55}"/>
              </a:ext>
            </a:extLst>
          </p:cNvPr>
          <p:cNvSpPr txBox="1"/>
          <p:nvPr/>
        </p:nvSpPr>
        <p:spPr>
          <a:xfrm>
            <a:off x="2351315" y="2036624"/>
            <a:ext cx="8548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Count the </a:t>
            </a:r>
            <a:r>
              <a:rPr lang="it-IT" sz="2800" dirty="0" err="1">
                <a:latin typeface="Avenir Next" panose="020B0503020202020204" pitchFamily="34" charset="0"/>
              </a:rPr>
              <a:t>total</a:t>
            </a:r>
            <a:r>
              <a:rPr lang="it-IT" sz="2800" dirty="0">
                <a:latin typeface="Avenir Next" panose="020B0503020202020204" pitchFamily="34" charset="0"/>
              </a:rPr>
              <a:t> of </a:t>
            </a:r>
            <a:r>
              <a:rPr lang="it-IT" sz="2800" b="1" dirty="0" err="1">
                <a:latin typeface="Avenir Next" panose="020B0503020202020204" pitchFamily="34" charset="0"/>
              </a:rPr>
              <a:t>pending</a:t>
            </a:r>
            <a:r>
              <a:rPr lang="it-IT" sz="2800" b="1" dirty="0">
                <a:latin typeface="Avenir Next" panose="020B0503020202020204" pitchFamily="34" charset="0"/>
              </a:rPr>
              <a:t> jobs </a:t>
            </a:r>
            <a:r>
              <a:rPr lang="it-IT" sz="2800" dirty="0">
                <a:latin typeface="Avenir Next" panose="020B0503020202020204" pitchFamily="34" charset="0"/>
              </a:rPr>
              <a:t>in Batch </a:t>
            </a:r>
            <a:r>
              <a:rPr lang="it-IT" sz="2800" dirty="0" err="1">
                <a:latin typeface="Avenir Next" panose="020B0503020202020204" pitchFamily="34" charset="0"/>
              </a:rPr>
              <a:t>queue</a:t>
            </a:r>
            <a:endParaRPr lang="it-IT" sz="2800" b="1" dirty="0">
              <a:latin typeface="Avenir Next" panose="020B0503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F9A34DD-895D-2DFC-2D73-D1A9BCD78480}"/>
              </a:ext>
            </a:extLst>
          </p:cNvPr>
          <p:cNvSpPr txBox="1"/>
          <p:nvPr/>
        </p:nvSpPr>
        <p:spPr>
          <a:xfrm>
            <a:off x="2351315" y="2996185"/>
            <a:ext cx="8548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Count the size of </a:t>
            </a:r>
            <a:r>
              <a:rPr lang="it-IT" sz="2800" dirty="0" err="1">
                <a:latin typeface="Avenir Next" panose="020B0503020202020204" pitchFamily="34" charset="0"/>
              </a:rPr>
              <a:t>messages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into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b="1" dirty="0" err="1">
                <a:latin typeface="Avenir Next" panose="020B0503020202020204" pitchFamily="34" charset="0"/>
              </a:rPr>
              <a:t>waiting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queue</a:t>
            </a:r>
            <a:endParaRPr lang="it-IT" sz="2800" dirty="0">
              <a:latin typeface="Avenir Next" panose="020B0503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D4E670-5FAD-06D7-1237-220B638571B0}"/>
              </a:ext>
            </a:extLst>
          </p:cNvPr>
          <p:cNvSpPr txBox="1"/>
          <p:nvPr/>
        </p:nvSpPr>
        <p:spPr>
          <a:xfrm>
            <a:off x="2351315" y="3955746"/>
            <a:ext cx="900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Sum </a:t>
            </a:r>
            <a:r>
              <a:rPr lang="it-IT" sz="2800" dirty="0" err="1">
                <a:latin typeface="Avenir Next" panose="020B0503020202020204" pitchFamily="34" charset="0"/>
              </a:rPr>
              <a:t>them</a:t>
            </a:r>
            <a:r>
              <a:rPr lang="it-IT" sz="2800" dirty="0">
                <a:latin typeface="Avenir Next" panose="020B0503020202020204" pitchFamily="34" charset="0"/>
              </a:rPr>
              <a:t> and compare with a </a:t>
            </a:r>
            <a:r>
              <a:rPr lang="it-IT" sz="2800" dirty="0" err="1">
                <a:latin typeface="Avenir Next" panose="020B0503020202020204" pitchFamily="34" charset="0"/>
              </a:rPr>
              <a:t>given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b="1" dirty="0" err="1">
                <a:latin typeface="Avenir Next" panose="020B0503020202020204" pitchFamily="34" charset="0"/>
              </a:rPr>
              <a:t>threshold</a:t>
            </a:r>
            <a:endParaRPr lang="it-IT" sz="2800" b="1" dirty="0">
              <a:latin typeface="Avenir Next" panose="020B0503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B454AA8-1978-77C1-FE27-CE079143EFBB}"/>
              </a:ext>
            </a:extLst>
          </p:cNvPr>
          <p:cNvSpPr txBox="1"/>
          <p:nvPr/>
        </p:nvSpPr>
        <p:spPr>
          <a:xfrm>
            <a:off x="2351315" y="4915306"/>
            <a:ext cx="8548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If</a:t>
            </a:r>
            <a:r>
              <a:rPr lang="it-IT" sz="2800" dirty="0">
                <a:latin typeface="Avenir Next" panose="020B0503020202020204" pitchFamily="34" charset="0"/>
              </a:rPr>
              <a:t> sum </a:t>
            </a:r>
            <a:r>
              <a:rPr lang="it-IT" sz="2800" dirty="0" err="1">
                <a:latin typeface="Avenir Next" panose="020B0503020202020204" pitchFamily="34" charset="0"/>
              </a:rPr>
              <a:t>is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lower</a:t>
            </a:r>
            <a:r>
              <a:rPr lang="it-IT" sz="2800" dirty="0">
                <a:latin typeface="Avenir Next" panose="020B0503020202020204" pitchFamily="34" charset="0"/>
              </a:rPr>
              <a:t>, </a:t>
            </a:r>
            <a:r>
              <a:rPr lang="it-IT" sz="2800" dirty="0" err="1">
                <a:latin typeface="Avenir Next" panose="020B0503020202020204" pitchFamily="34" charset="0"/>
              </a:rPr>
              <a:t>send</a:t>
            </a:r>
            <a:r>
              <a:rPr lang="it-IT" sz="2800" dirty="0">
                <a:latin typeface="Avenir Next" panose="020B0503020202020204" pitchFamily="34" charset="0"/>
              </a:rPr>
              <a:t> an event to </a:t>
            </a:r>
            <a:r>
              <a:rPr lang="it-IT" sz="2800" b="1" dirty="0" err="1">
                <a:latin typeface="Avenir Next" panose="020B0503020202020204" pitchFamily="34" charset="0"/>
              </a:rPr>
              <a:t>Prioritizer</a:t>
            </a:r>
            <a:endParaRPr lang="it-IT" sz="2800" b="1" dirty="0">
              <a:latin typeface="Avenir Next" panose="020B0503020202020204" pitchFamily="34" charset="0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307734C-0394-6D56-3EC6-8C48ACD87B3B}"/>
              </a:ext>
            </a:extLst>
          </p:cNvPr>
          <p:cNvSpPr/>
          <p:nvPr/>
        </p:nvSpPr>
        <p:spPr>
          <a:xfrm>
            <a:off x="838202" y="2267464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194CAB9-2236-5C29-6767-CCA356289892}"/>
              </a:ext>
            </a:extLst>
          </p:cNvPr>
          <p:cNvSpPr/>
          <p:nvPr/>
        </p:nvSpPr>
        <p:spPr>
          <a:xfrm>
            <a:off x="838201" y="3195145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7E41F12-A2CD-BF77-E449-C4FC815B5B50}"/>
              </a:ext>
            </a:extLst>
          </p:cNvPr>
          <p:cNvSpPr/>
          <p:nvPr/>
        </p:nvSpPr>
        <p:spPr>
          <a:xfrm>
            <a:off x="838201" y="4154706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E7DBB049-D0B5-CE14-2073-7B3D3DAE20E3}"/>
              </a:ext>
            </a:extLst>
          </p:cNvPr>
          <p:cNvSpPr/>
          <p:nvPr/>
        </p:nvSpPr>
        <p:spPr>
          <a:xfrm>
            <a:off x="838200" y="5117150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9173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4676-609D-2993-5664-EC3A991D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F4D339-9EF1-2888-2979-AD294E32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PRIORITIZER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A9AAC10-20C7-C004-4698-854F2EB0B59D}"/>
              </a:ext>
            </a:extLst>
          </p:cNvPr>
          <p:cNvSpPr txBox="1"/>
          <p:nvPr/>
        </p:nvSpPr>
        <p:spPr>
          <a:xfrm>
            <a:off x="2351315" y="2036624"/>
            <a:ext cx="8548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Check </a:t>
            </a:r>
            <a:r>
              <a:rPr lang="it-IT" sz="2800" dirty="0" err="1">
                <a:latin typeface="Avenir Next" panose="020B0503020202020204" pitchFamily="34" charset="0"/>
              </a:rPr>
              <a:t>if</a:t>
            </a:r>
            <a:r>
              <a:rPr lang="it-IT" sz="2800" dirty="0">
                <a:latin typeface="Avenir Next" panose="020B0503020202020204" pitchFamily="34" charset="0"/>
              </a:rPr>
              <a:t> the </a:t>
            </a:r>
            <a:r>
              <a:rPr lang="it-IT" sz="2800" dirty="0" err="1">
                <a:latin typeface="Avenir Next" panose="020B0503020202020204" pitchFamily="34" charset="0"/>
              </a:rPr>
              <a:t>message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is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b="1" dirty="0" err="1">
                <a:latin typeface="Avenir Next" panose="020B0503020202020204" pitchFamily="34" charset="0"/>
              </a:rPr>
              <a:t>recent</a:t>
            </a:r>
            <a:endParaRPr lang="it-IT" sz="2800" b="1" dirty="0">
              <a:latin typeface="Avenir Next" panose="020B0503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CAEAB58-6099-6B36-777C-47B73EF8EC18}"/>
              </a:ext>
            </a:extLst>
          </p:cNvPr>
          <p:cNvSpPr txBox="1"/>
          <p:nvPr/>
        </p:nvSpPr>
        <p:spPr>
          <a:xfrm>
            <a:off x="2351315" y="2996185"/>
            <a:ext cx="85489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Loop over </a:t>
            </a:r>
            <a:r>
              <a:rPr lang="it-IT" sz="2800" dirty="0" err="1">
                <a:latin typeface="Avenir Next" panose="020B0503020202020204" pitchFamily="34" charset="0"/>
              </a:rPr>
              <a:t>all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active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b="1" dirty="0">
                <a:latin typeface="Avenir Next" panose="020B0503020202020204" pitchFamily="34" charset="0"/>
              </a:rPr>
              <a:t>high-</a:t>
            </a:r>
            <a:r>
              <a:rPr lang="it-IT" sz="2800" b="1" dirty="0" err="1">
                <a:latin typeface="Avenir Next" panose="020B0503020202020204" pitchFamily="34" charset="0"/>
              </a:rPr>
              <a:t>priority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queues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until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ndale Mono" panose="020B0509000000000004" pitchFamily="49" charset="0"/>
              </a:rPr>
              <a:t>batchSize</a:t>
            </a:r>
            <a:r>
              <a:rPr lang="it-IT" sz="2800" dirty="0">
                <a:latin typeface="Avenir Next" panose="020B0503020202020204" pitchFamily="34" charset="0"/>
              </a:rPr>
              <a:t> or </a:t>
            </a:r>
            <a:r>
              <a:rPr lang="it-IT" sz="2800" dirty="0" err="1">
                <a:latin typeface="Andale Mono" panose="020B0509000000000004" pitchFamily="49" charset="0"/>
              </a:rPr>
              <a:t>maxAttempts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has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been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reached</a:t>
            </a:r>
            <a:endParaRPr lang="it-IT" sz="2800" dirty="0">
              <a:latin typeface="Avenir Next" panose="020B0503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DC1336-078D-5289-F34C-241521A8D552}"/>
              </a:ext>
            </a:extLst>
          </p:cNvPr>
          <p:cNvSpPr txBox="1"/>
          <p:nvPr/>
        </p:nvSpPr>
        <p:spPr>
          <a:xfrm>
            <a:off x="2351315" y="3955746"/>
            <a:ext cx="900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2800" dirty="0">
              <a:latin typeface="Avenir Next" panose="020B0503020202020204" pitchFamily="34" charset="0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BFEBE7BC-DF86-9A3A-19CB-A9A7721D2942}"/>
              </a:ext>
            </a:extLst>
          </p:cNvPr>
          <p:cNvSpPr/>
          <p:nvPr/>
        </p:nvSpPr>
        <p:spPr>
          <a:xfrm>
            <a:off x="838202" y="2267464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3C7F9D0-E741-6D90-BE9E-4E72DB965B96}"/>
              </a:ext>
            </a:extLst>
          </p:cNvPr>
          <p:cNvSpPr/>
          <p:nvPr/>
        </p:nvSpPr>
        <p:spPr>
          <a:xfrm>
            <a:off x="838201" y="3195145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32F4AA3-4A92-0172-F0EE-DCE596607E18}"/>
              </a:ext>
            </a:extLst>
          </p:cNvPr>
          <p:cNvSpPr txBox="1"/>
          <p:nvPr/>
        </p:nvSpPr>
        <p:spPr>
          <a:xfrm>
            <a:off x="2351314" y="4368457"/>
            <a:ext cx="90024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If</a:t>
            </a:r>
            <a:r>
              <a:rPr lang="it-IT" sz="2800" dirty="0">
                <a:latin typeface="Avenir Next" panose="020B0503020202020204" pitchFamily="34" charset="0"/>
              </a:rPr>
              <a:t> the batch </a:t>
            </a:r>
            <a:r>
              <a:rPr lang="it-IT" sz="2800" dirty="0" err="1">
                <a:latin typeface="Avenir Next" panose="020B0503020202020204" pitchFamily="34" charset="0"/>
              </a:rPr>
              <a:t>has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still</a:t>
            </a:r>
            <a:r>
              <a:rPr lang="it-IT" sz="2800" dirty="0">
                <a:latin typeface="Avenir Next" panose="020B0503020202020204" pitchFamily="34" charset="0"/>
              </a:rPr>
              <a:t> room, loop over </a:t>
            </a:r>
            <a:r>
              <a:rPr lang="it-IT" sz="2800" dirty="0" err="1">
                <a:latin typeface="Avenir Next" panose="020B0503020202020204" pitchFamily="34" charset="0"/>
              </a:rPr>
              <a:t>all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active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b="1" dirty="0">
                <a:latin typeface="Avenir Next" panose="020B0503020202020204" pitchFamily="34" charset="0"/>
              </a:rPr>
              <a:t>low-</a:t>
            </a:r>
            <a:r>
              <a:rPr lang="it-IT" sz="2800" b="1" dirty="0" err="1">
                <a:latin typeface="Avenir Next" panose="020B0503020202020204" pitchFamily="34" charset="0"/>
              </a:rPr>
              <a:t>priority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queues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until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ndale Mono" panose="020B0509000000000004" pitchFamily="49" charset="0"/>
              </a:rPr>
              <a:t>batchSize</a:t>
            </a:r>
            <a:r>
              <a:rPr lang="it-IT" sz="2800" dirty="0">
                <a:latin typeface="Avenir Next" panose="020B0503020202020204" pitchFamily="34" charset="0"/>
              </a:rPr>
              <a:t> or </a:t>
            </a:r>
            <a:r>
              <a:rPr lang="it-IT" sz="2800" dirty="0" err="1">
                <a:latin typeface="Andale Mono" panose="020B0509000000000004" pitchFamily="49" charset="0"/>
              </a:rPr>
              <a:t>maxAttempts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has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been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reached</a:t>
            </a:r>
            <a:endParaRPr lang="it-IT" sz="2800" dirty="0">
              <a:latin typeface="Avenir Next" panose="020B0503020202020204" pitchFamily="34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5061C27-6F6A-30F3-8FC4-8360D8B26CAB}"/>
              </a:ext>
            </a:extLst>
          </p:cNvPr>
          <p:cNvSpPr/>
          <p:nvPr/>
        </p:nvSpPr>
        <p:spPr>
          <a:xfrm>
            <a:off x="838200" y="4567417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489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3D4EC-3F1A-FB50-CE1D-68064636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8570FD-BB4E-79A2-DE60-75077DEF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PRIORITIZER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878305-05C1-6B4E-431C-2363EFF7A416}"/>
              </a:ext>
            </a:extLst>
          </p:cNvPr>
          <p:cNvSpPr txBox="1"/>
          <p:nvPr/>
        </p:nvSpPr>
        <p:spPr>
          <a:xfrm>
            <a:off x="2351315" y="2036624"/>
            <a:ext cx="85489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>
                <a:latin typeface="Avenir Next" panose="020B0503020202020204" pitchFamily="34" charset="0"/>
              </a:rPr>
              <a:t>Queues</a:t>
            </a:r>
            <a:r>
              <a:rPr lang="it-IT" sz="2800" dirty="0">
                <a:latin typeface="Avenir Next" panose="020B0503020202020204" pitchFamily="34" charset="0"/>
              </a:rPr>
              <a:t> are </a:t>
            </a:r>
            <a:r>
              <a:rPr lang="it-IT" sz="2800" b="1" dirty="0" err="1">
                <a:latin typeface="Avenir Next" panose="020B0503020202020204" pitchFamily="34" charset="0"/>
              </a:rPr>
              <a:t>weighted</a:t>
            </a:r>
            <a:r>
              <a:rPr lang="it-IT" sz="2800" dirty="0">
                <a:latin typeface="Avenir Next" panose="020B0503020202020204" pitchFamily="34" charset="0"/>
              </a:rPr>
              <a:t>, so a </a:t>
            </a:r>
            <a:r>
              <a:rPr lang="it-IT" sz="2800" dirty="0" err="1">
                <a:latin typeface="Avenir Next" panose="020B0503020202020204" pitchFamily="34" charset="0"/>
              </a:rPr>
              <a:t>value</a:t>
            </a:r>
            <a:r>
              <a:rPr lang="it-IT" sz="2800" dirty="0">
                <a:latin typeface="Avenir Next" panose="020B0503020202020204" pitchFamily="34" charset="0"/>
              </a:rPr>
              <a:t> stream </a:t>
            </a:r>
            <a:r>
              <a:rPr lang="it-IT" sz="2800" dirty="0" err="1">
                <a:latin typeface="Avenir Next" panose="020B0503020202020204" pitchFamily="34" charset="0"/>
              </a:rPr>
              <a:t>may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have</a:t>
            </a:r>
            <a:r>
              <a:rPr lang="it-IT" sz="2800" dirty="0">
                <a:latin typeface="Avenir Next" panose="020B0503020202020204" pitchFamily="34" charset="0"/>
              </a:rPr>
              <a:t> more </a:t>
            </a:r>
            <a:r>
              <a:rPr lang="it-IT" sz="2800" dirty="0" err="1">
                <a:latin typeface="Avenir Next" panose="020B0503020202020204" pitchFamily="34" charset="0"/>
              </a:rPr>
              <a:t>resources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than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other</a:t>
            </a:r>
            <a:endParaRPr lang="it-IT" sz="2800" dirty="0">
              <a:latin typeface="Avenir Next" panose="020B0503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94385B2-A2E5-7C42-C285-FCB128AF21E8}"/>
              </a:ext>
            </a:extLst>
          </p:cNvPr>
          <p:cNvSpPr txBox="1"/>
          <p:nvPr/>
        </p:nvSpPr>
        <p:spPr>
          <a:xfrm>
            <a:off x="2351315" y="3955746"/>
            <a:ext cx="900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2800" dirty="0">
              <a:latin typeface="Avenir Next" panose="020B0503020202020204" pitchFamily="34" charset="0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DDEE799-3F91-2639-A08D-0145EE5667FA}"/>
              </a:ext>
            </a:extLst>
          </p:cNvPr>
          <p:cNvSpPr/>
          <p:nvPr/>
        </p:nvSpPr>
        <p:spPr>
          <a:xfrm>
            <a:off x="838202" y="2267464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5C09DBD-9D0C-856B-00D7-7B6D4CD01E84}"/>
              </a:ext>
            </a:extLst>
          </p:cNvPr>
          <p:cNvSpPr txBox="1"/>
          <p:nvPr/>
        </p:nvSpPr>
        <p:spPr>
          <a:xfrm>
            <a:off x="2351314" y="3794713"/>
            <a:ext cx="90024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Avenir Next" panose="020B0503020202020204" pitchFamily="34" charset="0"/>
              </a:rPr>
              <a:t>A single loop, </a:t>
            </a:r>
            <a:r>
              <a:rPr lang="it-IT" sz="2800" dirty="0" err="1">
                <a:latin typeface="Avenir Next" panose="020B0503020202020204" pitchFamily="34" charset="0"/>
              </a:rPr>
              <a:t>either</a:t>
            </a:r>
            <a:r>
              <a:rPr lang="it-IT" sz="2800" dirty="0">
                <a:latin typeface="Avenir Next" panose="020B0503020202020204" pitchFamily="34" charset="0"/>
              </a:rPr>
              <a:t> high or low </a:t>
            </a:r>
            <a:r>
              <a:rPr lang="it-IT" sz="2800" dirty="0" err="1">
                <a:latin typeface="Avenir Next" panose="020B0503020202020204" pitchFamily="34" charset="0"/>
              </a:rPr>
              <a:t>priority</a:t>
            </a:r>
            <a:r>
              <a:rPr lang="it-IT" sz="2800" dirty="0">
                <a:latin typeface="Avenir Next" panose="020B0503020202020204" pitchFamily="34" charset="0"/>
              </a:rPr>
              <a:t>, </a:t>
            </a:r>
            <a:r>
              <a:rPr lang="it-IT" sz="2800" dirty="0" err="1">
                <a:latin typeface="Avenir Next" panose="020B0503020202020204" pitchFamily="34" charset="0"/>
              </a:rPr>
              <a:t>reaches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all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active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queues</a:t>
            </a:r>
            <a:r>
              <a:rPr lang="it-IT" sz="2800" dirty="0">
                <a:latin typeface="Avenir Next" panose="020B0503020202020204" pitchFamily="34" charset="0"/>
              </a:rPr>
              <a:t>, </a:t>
            </a:r>
            <a:r>
              <a:rPr lang="it-IT" sz="2800" dirty="0" err="1">
                <a:latin typeface="Avenir Next" panose="020B0503020202020204" pitchFamily="34" charset="0"/>
              </a:rPr>
              <a:t>this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guarantee</a:t>
            </a:r>
            <a:r>
              <a:rPr lang="it-IT" sz="2800" dirty="0">
                <a:latin typeface="Avenir Next" panose="020B0503020202020204" pitchFamily="34" charset="0"/>
              </a:rPr>
              <a:t> a </a:t>
            </a:r>
            <a:r>
              <a:rPr lang="it-IT" sz="2800" b="1" dirty="0">
                <a:latin typeface="Avenir Next" panose="020B0503020202020204" pitchFamily="34" charset="0"/>
              </a:rPr>
              <a:t>fair-sharing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among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all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value</a:t>
            </a:r>
            <a:r>
              <a:rPr lang="it-IT" sz="2800" dirty="0">
                <a:latin typeface="Avenir Next" panose="020B0503020202020204" pitchFamily="34" charset="0"/>
              </a:rPr>
              <a:t> streams. </a:t>
            </a:r>
            <a:r>
              <a:rPr lang="it-IT" sz="2800" dirty="0" err="1">
                <a:latin typeface="Avenir Next" panose="020B0503020202020204" pitchFamily="34" charset="0"/>
              </a:rPr>
              <a:t>This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could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result</a:t>
            </a:r>
            <a:r>
              <a:rPr lang="it-IT" sz="2800" dirty="0">
                <a:latin typeface="Avenir Next" panose="020B0503020202020204" pitchFamily="34" charset="0"/>
              </a:rPr>
              <a:t> in a batch size </a:t>
            </a:r>
            <a:r>
              <a:rPr lang="it-IT" sz="2800" dirty="0" err="1">
                <a:latin typeface="Avenir Next" panose="020B0503020202020204" pitchFamily="34" charset="0"/>
              </a:rPr>
              <a:t>greater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than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ndale Mono" panose="020B0509000000000004" pitchFamily="49" charset="0"/>
              </a:rPr>
              <a:t>batchSize</a:t>
            </a:r>
            <a:r>
              <a:rPr lang="it-IT" sz="2800" dirty="0">
                <a:latin typeface="Avenir Next" panose="020B0503020202020204" pitchFamily="34" charset="0"/>
              </a:rPr>
              <a:t> </a:t>
            </a:r>
            <a:r>
              <a:rPr lang="it-IT" sz="2800" dirty="0" err="1">
                <a:latin typeface="Avenir Next" panose="020B0503020202020204" pitchFamily="34" charset="0"/>
              </a:rPr>
              <a:t>value</a:t>
            </a:r>
            <a:r>
              <a:rPr lang="it-IT" sz="2800" dirty="0">
                <a:latin typeface="Avenir Next" panose="020B0503020202020204" pitchFamily="34" charset="0"/>
              </a:rPr>
              <a:t>.</a:t>
            </a:r>
            <a:endParaRPr lang="it-IT" sz="2800" b="1" dirty="0">
              <a:latin typeface="Avenir Next" panose="020B0503020202020204" pitchFamily="34" charset="0"/>
            </a:endParaRPr>
          </a:p>
          <a:p>
            <a:endParaRPr lang="it-IT" sz="2800" dirty="0">
              <a:latin typeface="Avenir Next" panose="020B0503020202020204" pitchFamily="34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43863B4-B79E-C78C-7315-450E2BCEF5D2}"/>
              </a:ext>
            </a:extLst>
          </p:cNvPr>
          <p:cNvSpPr/>
          <p:nvPr/>
        </p:nvSpPr>
        <p:spPr>
          <a:xfrm>
            <a:off x="838200" y="3993673"/>
            <a:ext cx="1328056" cy="122507"/>
          </a:xfrm>
          <a:prstGeom prst="rect">
            <a:avLst/>
          </a:prstGeom>
          <a:solidFill>
            <a:srgbClr val="FF9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908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B0064-BB29-C055-55AA-5EFCE276D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4B4DFC-6645-277C-AB00-D065B4C8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PRIORITIZER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AFDAE64-545F-9A9F-C360-71B79EB07F6E}"/>
              </a:ext>
            </a:extLst>
          </p:cNvPr>
          <p:cNvSpPr txBox="1"/>
          <p:nvPr/>
        </p:nvSpPr>
        <p:spPr>
          <a:xfrm>
            <a:off x="2351315" y="3955746"/>
            <a:ext cx="900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2800" dirty="0">
              <a:latin typeface="Avenir Next" panose="020B0503020202020204" pitchFamily="34" charset="0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B47549C-1039-DAB8-D155-E91F427E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06" y="2209642"/>
            <a:ext cx="11554389" cy="236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15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9EA6-31A5-F365-CB09-C9ED5E22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4255B44-1D84-BFBE-6313-DB8E02F25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348680"/>
              </p:ext>
            </p:extLst>
          </p:nvPr>
        </p:nvGraphicFramePr>
        <p:xfrm>
          <a:off x="316089" y="158044"/>
          <a:ext cx="11627556" cy="649111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78844">
                  <a:extLst>
                    <a:ext uri="{9D8B030D-6E8A-4147-A177-3AD203B41FA5}">
                      <a16:colId xmlns:a16="http://schemas.microsoft.com/office/drawing/2014/main" val="2495510229"/>
                    </a:ext>
                  </a:extLst>
                </a:gridCol>
                <a:gridCol w="970845">
                  <a:extLst>
                    <a:ext uri="{9D8B030D-6E8A-4147-A177-3AD203B41FA5}">
                      <a16:colId xmlns:a16="http://schemas.microsoft.com/office/drawing/2014/main" val="2590546653"/>
                    </a:ext>
                  </a:extLst>
                </a:gridCol>
                <a:gridCol w="733778">
                  <a:extLst>
                    <a:ext uri="{9D8B030D-6E8A-4147-A177-3AD203B41FA5}">
                      <a16:colId xmlns:a16="http://schemas.microsoft.com/office/drawing/2014/main" val="2982472686"/>
                    </a:ext>
                  </a:extLst>
                </a:gridCol>
                <a:gridCol w="699911">
                  <a:extLst>
                    <a:ext uri="{9D8B030D-6E8A-4147-A177-3AD203B41FA5}">
                      <a16:colId xmlns:a16="http://schemas.microsoft.com/office/drawing/2014/main" val="1538247725"/>
                    </a:ext>
                  </a:extLst>
                </a:gridCol>
                <a:gridCol w="1140177">
                  <a:extLst>
                    <a:ext uri="{9D8B030D-6E8A-4147-A177-3AD203B41FA5}">
                      <a16:colId xmlns:a16="http://schemas.microsoft.com/office/drawing/2014/main" val="47288429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6075515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188403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426114579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381731730"/>
                    </a:ext>
                  </a:extLst>
                </a:gridCol>
              </a:tblGrid>
              <a:tr h="7219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case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batch </a:t>
                      </a:r>
                    </a:p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size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weight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weightSum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available</a:t>
                      </a:r>
                      <a:endParaRPr lang="it-IT" sz="1400" u="none" strike="noStrike" dirty="0">
                        <a:effectLst/>
                        <a:latin typeface="Avenir Next" panose="020B0503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in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requested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fetched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notes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extLst>
                  <a:ext uri="{0D108BD9-81ED-4DB2-BD59-A6C34878D82A}">
                    <a16:rowId xmlns:a16="http://schemas.microsoft.com/office/drawing/2014/main" val="1971652386"/>
                  </a:ext>
                </a:extLst>
              </a:tr>
              <a:tr h="711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one 3/2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single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497295"/>
                  </a:ext>
                </a:extLst>
              </a:tr>
              <a:tr h="711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one 3/3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single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extLst>
                  <a:ext uri="{0D108BD9-81ED-4DB2-BD59-A6C34878D82A}">
                    <a16:rowId xmlns:a16="http://schemas.microsoft.com/office/drawing/2014/main" val="77069140"/>
                  </a:ext>
                </a:extLst>
              </a:tr>
              <a:tr h="711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two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4/4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two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equal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</a:p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equal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availability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148306"/>
                  </a:ext>
                </a:extLst>
              </a:tr>
              <a:tr h="711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two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4/4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two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equal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</a:p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equal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availability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869996"/>
                  </a:ext>
                </a:extLst>
              </a:tr>
              <a:tr h="711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two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unbalanced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8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q1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has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plenty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of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messages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extLst>
                  <a:ext uri="{0D108BD9-81ED-4DB2-BD59-A6C34878D82A}">
                    <a16:rowId xmlns:a16="http://schemas.microsoft.com/office/drawing/2014/main" val="3533443784"/>
                  </a:ext>
                </a:extLst>
              </a:tr>
              <a:tr h="7870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two unbalanced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q2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requests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4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but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only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2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available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-&gt;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fetched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capped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by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availability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extLst>
                  <a:ext uri="{0D108BD9-81ED-4DB2-BD59-A6C34878D82A}">
                    <a16:rowId xmlns:a16="http://schemas.microsoft.com/office/drawing/2014/main" val="4274723879"/>
                  </a:ext>
                </a:extLst>
              </a:tr>
              <a:tr h="711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two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different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</a:p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weight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8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double weight -&gt; double share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850173"/>
                  </a:ext>
                </a:extLst>
              </a:tr>
              <a:tr h="7117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two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different</a:t>
                      </a:r>
                      <a:endParaRPr lang="it-IT" sz="1400" u="none" strike="noStrike" dirty="0">
                        <a:effectLst/>
                        <a:latin typeface="Avenir Next" panose="020B0503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weight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878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620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116B-96F8-7DFA-514F-814C2484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5BC6BEC-5ACF-3B54-3AF7-F608606CB3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020882"/>
              </p:ext>
            </p:extLst>
          </p:nvPr>
        </p:nvGraphicFramePr>
        <p:xfrm>
          <a:off x="316089" y="158044"/>
          <a:ext cx="11627556" cy="649111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59467">
                  <a:extLst>
                    <a:ext uri="{9D8B030D-6E8A-4147-A177-3AD203B41FA5}">
                      <a16:colId xmlns:a16="http://schemas.microsoft.com/office/drawing/2014/main" val="249551022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590546653"/>
                    </a:ext>
                  </a:extLst>
                </a:gridCol>
                <a:gridCol w="587022">
                  <a:extLst>
                    <a:ext uri="{9D8B030D-6E8A-4147-A177-3AD203B41FA5}">
                      <a16:colId xmlns:a16="http://schemas.microsoft.com/office/drawing/2014/main" val="2982472686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1538247725"/>
                    </a:ext>
                  </a:extLst>
                </a:gridCol>
                <a:gridCol w="1196622">
                  <a:extLst>
                    <a:ext uri="{9D8B030D-6E8A-4147-A177-3AD203B41FA5}">
                      <a16:colId xmlns:a16="http://schemas.microsoft.com/office/drawing/2014/main" val="472884290"/>
                    </a:ext>
                  </a:extLst>
                </a:gridCol>
                <a:gridCol w="1207911">
                  <a:extLst>
                    <a:ext uri="{9D8B030D-6E8A-4147-A177-3AD203B41FA5}">
                      <a16:colId xmlns:a16="http://schemas.microsoft.com/office/drawing/2014/main" val="607551502"/>
                    </a:ext>
                  </a:extLst>
                </a:gridCol>
                <a:gridCol w="1196622">
                  <a:extLst>
                    <a:ext uri="{9D8B030D-6E8A-4147-A177-3AD203B41FA5}">
                      <a16:colId xmlns:a16="http://schemas.microsoft.com/office/drawing/2014/main" val="918840301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1426114579"/>
                    </a:ext>
                  </a:extLst>
                </a:gridCol>
                <a:gridCol w="3138312">
                  <a:extLst>
                    <a:ext uri="{9D8B030D-6E8A-4147-A177-3AD203B41FA5}">
                      <a16:colId xmlns:a16="http://schemas.microsoft.com/office/drawing/2014/main" val="1381731730"/>
                    </a:ext>
                  </a:extLst>
                </a:gridCol>
              </a:tblGrid>
              <a:tr h="6167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case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batch</a:t>
                      </a:r>
                    </a:p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size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weight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weightSum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available</a:t>
                      </a:r>
                      <a:endParaRPr lang="it-IT" sz="1400" u="none" strike="noStrike" dirty="0">
                        <a:effectLst/>
                        <a:latin typeface="Avenir Next" panose="020B0503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in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requested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fetched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notes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extLst>
                  <a:ext uri="{0D108BD9-81ED-4DB2-BD59-A6C34878D82A}">
                    <a16:rowId xmlns:a16="http://schemas.microsoft.com/office/drawing/2014/main" val="1971652386"/>
                  </a:ext>
                </a:extLst>
              </a:tr>
              <a:tr h="9085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many queues small batch - overshoot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anti-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starvation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floor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: 5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equal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x 1 = 5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total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&gt;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batchSize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3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extLst>
                  <a:ext uri="{0D108BD9-81ED-4DB2-BD59-A6C34878D82A}">
                    <a16:rowId xmlns:a16="http://schemas.microsoft.com/office/drawing/2014/main" val="1480011376"/>
                  </a:ext>
                </a:extLst>
              </a:tr>
              <a:tr h="9085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many queues small batch - overshoot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anti-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starvation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floor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: 5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equal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x 1 = 5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total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&gt;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batchSize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3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extLst>
                  <a:ext uri="{0D108BD9-81ED-4DB2-BD59-A6C34878D82A}">
                    <a16:rowId xmlns:a16="http://schemas.microsoft.com/office/drawing/2014/main" val="2504901690"/>
                  </a:ext>
                </a:extLst>
              </a:tr>
              <a:tr h="9085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many queues small batch - overshoot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anti-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starvation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floor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: 5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equal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x 1 = 5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total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&gt;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batchSize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3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extLst>
                  <a:ext uri="{0D108BD9-81ED-4DB2-BD59-A6C34878D82A}">
                    <a16:rowId xmlns:a16="http://schemas.microsoft.com/office/drawing/2014/main" val="3935317778"/>
                  </a:ext>
                </a:extLst>
              </a:tr>
              <a:tr h="9085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many queues small batch - overshoot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q4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anti-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starvation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floor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: 5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equal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x 1 = 5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total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&gt;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batchSize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3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extLst>
                  <a:ext uri="{0D108BD9-81ED-4DB2-BD59-A6C34878D82A}">
                    <a16:rowId xmlns:a16="http://schemas.microsoft.com/office/drawing/2014/main" val="2560376024"/>
                  </a:ext>
                </a:extLst>
              </a:tr>
              <a:tr h="8360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many queues small batch - overshoot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5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anti-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starvation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floor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: 5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equal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x 1 = 5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total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&gt;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batchSize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3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/>
                </a:tc>
                <a:extLst>
                  <a:ext uri="{0D108BD9-81ED-4DB2-BD59-A6C34878D82A}">
                    <a16:rowId xmlns:a16="http://schemas.microsoft.com/office/drawing/2014/main" val="2665404527"/>
                  </a:ext>
                </a:extLst>
              </a:tr>
              <a:tr h="4954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two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high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unbalanced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200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201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dominant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queue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capped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at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MaxMessages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(10)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955390"/>
                  </a:ext>
                </a:extLst>
              </a:tr>
              <a:tr h="9085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two high unbalanced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q2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201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10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>
                          <a:effectLst/>
                          <a:latin typeface="Avenir Next" panose="020B0503020202020204" pitchFamily="34" charset="0"/>
                        </a:rPr>
                        <a:t>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anti-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starvation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floor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: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near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-zero share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still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gets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1 -&gt;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total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11 &gt; </a:t>
                      </a:r>
                      <a:r>
                        <a:rPr lang="it-IT" sz="1400" u="none" strike="noStrike" dirty="0" err="1">
                          <a:effectLst/>
                          <a:latin typeface="Avenir Next" panose="020B0503020202020204" pitchFamily="34" charset="0"/>
                        </a:rPr>
                        <a:t>batchSize</a:t>
                      </a:r>
                      <a:r>
                        <a:rPr lang="it-IT" sz="1400" u="none" strike="noStrike" dirty="0">
                          <a:effectLst/>
                          <a:latin typeface="Avenir Next" panose="020B0503020202020204" pitchFamily="34" charset="0"/>
                        </a:rPr>
                        <a:t> 10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venir Next" panose="020B0503020202020204" pitchFamily="34" charset="0"/>
                      </a:endParaRPr>
                    </a:p>
                  </a:txBody>
                  <a:tcPr marL="6396" marR="6396" marT="6396" marB="0" anchor="ctr">
                    <a:solidFill>
                      <a:srgbClr val="BFC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887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485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10BEC-C08C-A94A-BC83-2F881BCB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B9206E-85CB-1217-C1CB-48CDA7DEE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>
                <a:latin typeface="Avenir Next" panose="020B0503020202020204" pitchFamily="34" charset="0"/>
              </a:rPr>
              <a:t>WHAT IF…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AA04111-C194-E4AB-4F1A-28B35733F6DB}"/>
              </a:ext>
            </a:extLst>
          </p:cNvPr>
          <p:cNvSpPr txBox="1"/>
          <p:nvPr/>
        </p:nvSpPr>
        <p:spPr>
          <a:xfrm>
            <a:off x="2351315" y="3955746"/>
            <a:ext cx="900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2800" dirty="0">
              <a:latin typeface="Avenir Next" panose="020B0503020202020204" pitchFamily="34" charset="0"/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961069B7-92EC-140B-29B6-286EF2D66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744883"/>
              </p:ext>
            </p:extLst>
          </p:nvPr>
        </p:nvGraphicFramePr>
        <p:xfrm>
          <a:off x="2032000" y="2201527"/>
          <a:ext cx="8128000" cy="35084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1974193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64559752"/>
                    </a:ext>
                  </a:extLst>
                </a:gridCol>
              </a:tblGrid>
              <a:tr h="482997">
                <a:tc>
                  <a:txBody>
                    <a:bodyPr/>
                    <a:lstStyle/>
                    <a:p>
                      <a:r>
                        <a:rPr lang="it-IT" dirty="0">
                          <a:latin typeface="Avenir Next" panose="020B0503020202020204" pitchFamily="34" charset="0"/>
                        </a:rPr>
                        <a:t>A VS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has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corrupted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messages</a:t>
                      </a:r>
                      <a:endParaRPr lang="it-IT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Avenir Next" panose="020B0503020202020204" pitchFamily="34" charset="0"/>
                        </a:rPr>
                        <a:t>Disable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polling from VS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queues</a:t>
                      </a:r>
                      <a:endParaRPr lang="it-IT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922195"/>
                  </a:ext>
                </a:extLst>
              </a:tr>
              <a:tr h="845245">
                <a:tc>
                  <a:txBody>
                    <a:bodyPr/>
                    <a:lstStyle/>
                    <a:p>
                      <a:r>
                        <a:rPr lang="it-IT" dirty="0">
                          <a:latin typeface="Avenir Next" panose="020B0503020202020204" pitchFamily="34" charset="0"/>
                        </a:rPr>
                        <a:t>A VS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has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huge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number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of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messages</a:t>
                      </a:r>
                      <a:endParaRPr lang="it-IT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Avenir Next" panose="020B0503020202020204" pitchFamily="34" charset="0"/>
                        </a:rPr>
                        <a:t>Increase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>
                          <a:latin typeface="Andale Mono" panose="020B0509000000000004" pitchFamily="49" charset="0"/>
                        </a:rPr>
                        <a:t>weight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/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Disable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other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queues</a:t>
                      </a:r>
                      <a:endParaRPr lang="it-IT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481527"/>
                  </a:ext>
                </a:extLst>
              </a:tr>
              <a:tr h="845245">
                <a:tc>
                  <a:txBody>
                    <a:bodyPr/>
                    <a:lstStyle/>
                    <a:p>
                      <a:r>
                        <a:rPr lang="it-IT" dirty="0">
                          <a:latin typeface="Avenir Next" panose="020B0503020202020204" pitchFamily="34" charset="0"/>
                        </a:rPr>
                        <a:t>Batch max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concurrency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has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been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increased</a:t>
                      </a:r>
                      <a:endParaRPr lang="it-IT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Avenir Next" panose="020B0503020202020204" pitchFamily="34" charset="0"/>
                        </a:rPr>
                        <a:t>Increase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ndale Mono" panose="020B0509000000000004" pitchFamily="49" charset="0"/>
                        </a:rPr>
                        <a:t>batchSize</a:t>
                      </a:r>
                      <a:endParaRPr lang="it-IT" dirty="0">
                        <a:latin typeface="Andale Mono" panose="020B050900000000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23843"/>
                  </a:ext>
                </a:extLst>
              </a:tr>
              <a:tr h="845245">
                <a:tc>
                  <a:txBody>
                    <a:bodyPr/>
                    <a:lstStyle/>
                    <a:p>
                      <a:r>
                        <a:rPr lang="it-IT" dirty="0">
                          <a:latin typeface="Avenir Next" panose="020B0503020202020204" pitchFamily="34" charset="0"/>
                        </a:rPr>
                        <a:t>Batch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needs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to be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stopped</a:t>
                      </a:r>
                      <a:endParaRPr lang="it-IT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latin typeface="Avenir Next" panose="020B0503020202020204" pitchFamily="34" charset="0"/>
                        </a:rPr>
                        <a:t>Stop the </a:t>
                      </a:r>
                      <a:r>
                        <a:rPr lang="it-IT" dirty="0" err="1">
                          <a:latin typeface="Andale Mono" panose="020B0509000000000004" pitchFamily="49" charset="0"/>
                        </a:rPr>
                        <a:t>prioritizer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,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messages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are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still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enqueued</a:t>
                      </a:r>
                      <a:endParaRPr lang="it-IT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576659"/>
                  </a:ext>
                </a:extLst>
              </a:tr>
              <a:tr h="489706">
                <a:tc>
                  <a:txBody>
                    <a:bodyPr/>
                    <a:lstStyle/>
                    <a:p>
                      <a:r>
                        <a:rPr lang="it-IT" dirty="0">
                          <a:latin typeface="Avenir Next" panose="020B0503020202020204" pitchFamily="34" charset="0"/>
                        </a:rPr>
                        <a:t>A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request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has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been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cancelled</a:t>
                      </a:r>
                      <a:endParaRPr lang="it-IT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>
                          <a:latin typeface="Avenir Next" panose="020B0503020202020204" pitchFamily="34" charset="0"/>
                        </a:rPr>
                        <a:t>Yet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to be </a:t>
                      </a:r>
                      <a:r>
                        <a:rPr lang="it-IT" dirty="0" err="1">
                          <a:latin typeface="Avenir Next" panose="020B0503020202020204" pitchFamily="34" charset="0"/>
                        </a:rPr>
                        <a:t>implemented</a:t>
                      </a:r>
                      <a:r>
                        <a:rPr lang="it-IT" dirty="0">
                          <a:latin typeface="Avenir Next" panose="020B0503020202020204" pitchFamily="34" charset="0"/>
                        </a:rPr>
                        <a:t> </a:t>
                      </a:r>
                      <a:r>
                        <a:rPr lang="it-IT" dirty="0">
                          <a:latin typeface="Avenir Next" panose="020B0503020202020204" pitchFamily="34" charset="0"/>
                          <a:sym typeface="Wingdings" pitchFamily="2" charset="2"/>
                        </a:rPr>
                        <a:t></a:t>
                      </a:r>
                      <a:endParaRPr lang="it-IT" dirty="0">
                        <a:latin typeface="Avenir Next" panose="020B05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45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463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56D8-E6EE-2033-09C2-0692F22FE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a man in a suit and tie is giving a thumbs up in front of a sign that says t. hanks .">
            <a:extLst>
              <a:ext uri="{FF2B5EF4-FFF2-40B4-BE49-F238E27FC236}">
                <a16:creationId xmlns:a16="http://schemas.microsoft.com/office/drawing/2014/main" id="{67518EE3-9FA9-8E6A-03B3-2293E39D8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86" y="291924"/>
            <a:ext cx="11024228" cy="6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322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40374</TotalTime>
  <Words>690</Words>
  <Application>Microsoft Macintosh PowerPoint</Application>
  <PresentationFormat>Widescreen</PresentationFormat>
  <Paragraphs>229</Paragraphs>
  <Slides>16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3" baseType="lpstr">
      <vt:lpstr>Andale Mono</vt:lpstr>
      <vt:lpstr>Aptos</vt:lpstr>
      <vt:lpstr>Aptos Display</vt:lpstr>
      <vt:lpstr>Arial</vt:lpstr>
      <vt:lpstr>Avenir Next</vt:lpstr>
      <vt:lpstr>Calibri</vt:lpstr>
      <vt:lpstr>Tema di Office</vt:lpstr>
      <vt:lpstr>PRIORITY QUEUES AND FAIR SHARING</vt:lpstr>
      <vt:lpstr>WHO AM I?</vt:lpstr>
      <vt:lpstr>WHO AM I?</vt:lpstr>
      <vt:lpstr>THE CONTEXT</vt:lpstr>
      <vt:lpstr>THE NEED</vt:lpstr>
      <vt:lpstr>WHY NOT BATCH?</vt:lpstr>
      <vt:lpstr>INFRASTRUCTURE</vt:lpstr>
      <vt:lpstr>SORTER</vt:lpstr>
      <vt:lpstr>CHECKER</vt:lpstr>
      <vt:lpstr>PRIORITIZER</vt:lpstr>
      <vt:lpstr>PRIORITIZER</vt:lpstr>
      <vt:lpstr>PRIORITIZER</vt:lpstr>
      <vt:lpstr>Presentazione standard di PowerPoint</vt:lpstr>
      <vt:lpstr>Presentazione standard di PowerPoint</vt:lpstr>
      <vt:lpstr>WHAT IF…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Salvatore Caputi</dc:creator>
  <cp:lastModifiedBy>Salvatore Caputi</cp:lastModifiedBy>
  <cp:revision>10</cp:revision>
  <cp:lastPrinted>2026-09-11T14:35:28Z</cp:lastPrinted>
  <dcterms:created xsi:type="dcterms:W3CDTF">2026-04-20T16:35:41Z</dcterms:created>
  <dcterms:modified xsi:type="dcterms:W3CDTF">2026-10-15T09:35:20Z</dcterms:modified>
</cp:coreProperties>
</file>